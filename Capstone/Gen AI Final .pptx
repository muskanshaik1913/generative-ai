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60" r:id="rId5"/>
    <p:sldId id="259" r:id="rId6"/>
    <p:sldId id="268" r:id="rId8"/>
    <p:sldId id="267" r:id="rId9"/>
    <p:sldId id="261" r:id="rId10"/>
    <p:sldId id="275" r:id="rId11"/>
    <p:sldId id="264" r:id="rId12"/>
    <p:sldId id="269" r:id="rId13"/>
    <p:sldId id="270" r:id="rId14"/>
    <p:sldId id="282" r:id="rId15"/>
    <p:sldId id="277" r:id="rId16"/>
    <p:sldId id="279" r:id="rId17"/>
    <p:sldId id="283" r:id="rId18"/>
    <p:sldId id="280" r:id="rId19"/>
    <p:sldId id="284" r:id="rId20"/>
    <p:sldId id="281" r:id="rId21"/>
    <p:sldId id="274" r:id="rId22"/>
    <p:sldId id="262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0F2E2-D05D-4AEA-95CE-8222C15C84C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44B02-653B-4896-A8E4-3675DE594E7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44B02-653B-4896-A8E4-3675DE594E75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36770-25FF-4ABB-B5A9-C97E4BA6596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563B1-60FB-4658-84FA-F286ED65D76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9390" y="12065"/>
            <a:ext cx="9144000" cy="276161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  <a:b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 Sciences</a:t>
            </a:r>
            <a:b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Chennai-602105 </a:t>
            </a:r>
            <a:b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22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CSA6502</a:t>
            </a:r>
            <a:r>
              <a:rPr lang="en-US" altLang="en-US" sz="222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-GENERATIVE AI AND LARGE SCALE MODELS</a:t>
            </a:r>
            <a:endParaRPr lang="en-US" altLang="en-US" sz="222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0690" y="3157855"/>
            <a:ext cx="8771255" cy="987425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Multi-Agent Intelligent Firewall for Prompt Injection, Hallucination Detection, and Secure Enterprise LLM Applications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059" y="260528"/>
            <a:ext cx="1530171" cy="15301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7445" y="4529455"/>
            <a:ext cx="40182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Presented by: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B.Vani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192472348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B.Paneesha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192472206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R. Mouni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192472283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S.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Muskan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(192472182)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1220" y="4665345"/>
            <a:ext cx="3328035" cy="988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Dr.Nithisha J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059" y="260528"/>
            <a:ext cx="1530171" cy="153017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2905" y="2049780"/>
            <a:ext cx="9243060" cy="43561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are transforming enterprise applications through intelligent automation.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AI systems are increasingly vulnerable to prompt injection and jailbreak attacks.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responses reduce the reliability of AI-generated information.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Sensitive enterprise data may be exposed through insecure AI interactions.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cybersecurity solutions cannot effectively protect modern LLM applications.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multi-agent firewall provides intelligent security for enterprise AI systems.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79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8640" y="1983740"/>
            <a:ext cx="8962390" cy="41738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LLM applications are vulnerable to prompt injection attacks.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may generate hallucinated or misleading responses.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organizational information can be exposed during AI interactions.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security mechanisms provide limited protection for enterprise AI.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AI responses is inefficient and time-consuming.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require an intelligent framework to secure enterprise LLMs.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268759" y="78055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913" y="135157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829" y="-47626"/>
            <a:ext cx="1530171" cy="15301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0" y="-47626"/>
            <a:ext cx="1331090" cy="1625421"/>
          </a:xfrm>
          <a:prstGeom prst="rect">
            <a:avLst/>
          </a:prstGeom>
        </p:spPr>
      </p:pic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1270635" y="1338580"/>
          <a:ext cx="9757410" cy="50838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50265"/>
                <a:gridCol w="1592580"/>
                <a:gridCol w="2081530"/>
                <a:gridCol w="2872105"/>
                <a:gridCol w="2360930"/>
              </a:tblGrid>
              <a:tr h="688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25031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Goal-Guided Generative Prompt Injection Attack on Large Language Models (IEEE, 2025)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Chong Zhang, Mingyu Jin, Qinkai Yu, Chengzhi Liu, Haochen Xue, Xiaobo Jin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goal-oriented prompt injection attacks using an auxiliary model to create adversarial injection text.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Effectively generates targeted prompt injection attacks and exposes vulnerabilities in LLMs.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06362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Jailbreak Attacks on Large Language Models and Possible Defenses: Present Status and Future Possibilities (IEEE, 2024)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Sadaf Surur Ahmed, J. Angel Arul Jothi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different jailbreak attacks on LLMs and discusses possible defense mechanisms.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an overview of LLM jailbreak threats and corresponding security strategies.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0642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MixHD: A Method for Detecting Hallucinations Based on the Internal State and Output Probability of Large Language Models (IEEE, 2025)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Chuang Li, Bingnan Xing, Dongdong Huo, Qihui Zhou, Zhen Xu, Yu Wang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hallucinations by combining the internal states and output probabilities of LLMs.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hallucination detection by using multiple signals from the language model.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0172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RedAgent: An Autonomous Agent for Context-Aware Red Teaming of LLM Jailbreaks (IEEE, 2026)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Huiyu Xu, Wenhui Zhang, Zhibo Wang, Feng Xiao, Rui Zheng, Zhongjie Ba, Kui Ren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an autonomous multi-agent system to generate context-aware jailbreak attacks and identify vulnerabilities in LLM applications.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automated red teaming and efficiently identifies context-specific jailbreak vulnerabilities.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79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6425" y="1845310"/>
            <a:ext cx="8904605" cy="447294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multi-agent firewall for enterprise LLM applications.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prompt injection and jailbreak attacks before model execution.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AI-generated responses to reduce hallucinated content.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sensitive enterprise information during AI interactions.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audit logs for security monitoring and compliance.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reliability and trustworthiness of enterprise AI system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268759" y="78055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79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315" y="2051685"/>
            <a:ext cx="8895715" cy="410591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firewalls inspect network traffic instead of natural language prompts.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cannot detect prompt injection attacks effectively.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responses are rarely verified for factual correctness.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enterprise information remains vulnerable to exposure.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security frameworks provide limited AI-specific protection.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increases operational complexity and security risks.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268759" y="78055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0395" y="1998980"/>
            <a:ext cx="8479155" cy="4345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multiple AI agents to secure enterprise LLM applications.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prompt is analyzed before reaching the language model.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responses are verified before being delivered to users.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enterprise information is protected throughout the workflow.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events are continuously monitored and logged.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improves trust, reliability, and enterprise AI security.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258417" y="65267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14" y="160517"/>
            <a:ext cx="1530171" cy="1530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1710" y="568325"/>
            <a:ext cx="8434070" cy="809625"/>
          </a:xfrm>
        </p:spPr>
        <p:txBody>
          <a:bodyPr>
            <a:normAutofit/>
          </a:bodyPr>
          <a:lstStyle/>
          <a:p>
            <a:pPr algn="ctr"/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iagram</a:t>
            </a:r>
            <a:endParaRPr lang="en-US" alt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258820" y="165278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009" y="212902"/>
            <a:ext cx="1530171" cy="15301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3587" y="4131509"/>
            <a:ext cx="2126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590040" y="1743075"/>
            <a:ext cx="8985250" cy="4784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435" y="606425"/>
            <a:ext cx="8955405" cy="11156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1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</a:t>
            </a:r>
            <a:br>
              <a:rPr lang="en-US" sz="311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11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11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Interface, Authentication &amp; Access Control, LLM Gateway</a:t>
            </a:r>
            <a:endParaRPr lang="en-US" altLang="en-US" sz="311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14" y="191470"/>
            <a:ext cx="1530171" cy="1530171"/>
          </a:xfrm>
          <a:prstGeom prst="rect">
            <a:avLst/>
          </a:prstGeom>
        </p:spPr>
      </p:pic>
      <p:sp>
        <p:nvSpPr>
          <p:cNvPr id="7" name="Content Placeholder 6"/>
          <p:cNvSpPr/>
          <p:nvPr>
            <p:ph idx="1"/>
          </p:nvPr>
        </p:nvSpPr>
        <p:spPr>
          <a:xfrm>
            <a:off x="1769110" y="2261235"/>
            <a:ext cx="8332470" cy="4008755"/>
          </a:xfrm>
        </p:spPr>
        <p:txBody>
          <a:bodyPr>
            <a:normAutofit/>
          </a:bodyPr>
          <a:p>
            <a:pPr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provides a secure interface for enterprise AI users.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verifies every user's identity before granting access.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restricts system functionality based on permissions.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LLM Gateway securely routes validated prompts to the firewall.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sessions are managed securely throughout each interaction.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 is maintained between users and AI services.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2905" y="191770"/>
            <a:ext cx="8734425" cy="132588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ym typeface="+mn-ea"/>
              </a:rPr>
              <a:t> </a:t>
            </a:r>
            <a:r>
              <a:rPr lang="en-US" sz="311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2</a:t>
            </a:r>
            <a:br>
              <a:rPr lang="en-US" sz="311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311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Multi-Agent Firewall &amp; Prompt Injection Detection Agent</a:t>
            </a:r>
            <a:endParaRPr lang="en-US" altLang="en-US" sz="311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14" y="191470"/>
            <a:ext cx="1530171" cy="1530171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652905" y="2167890"/>
            <a:ext cx="8841740" cy="4229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lnSpc>
                <a:spcPct val="19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firewall analyzes every prompt before it reaches the language model.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9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prompt injection agent detects malicious instructions and hidden attacks.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9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jailbreak detection agent identifies attempts to bypass AI safety policies.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9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Unsafe prompts are blocked or sanitized before processing.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9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Multiple AI agents collaborate to improve security decisions.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9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Only verified prompts are forwarded to the enterprise LLM.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0370"/>
            <a:ext cx="10515600" cy="130048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3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Hallucination Detection Agent &amp; </a:t>
            </a:r>
            <a:b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Sensitive Data Protection Agent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14" y="191470"/>
            <a:ext cx="1530171" cy="1530171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654175" y="2254250"/>
            <a:ext cx="9578340" cy="4018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hallucination detection agent verifies the correctness of AI-generated responses.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improves factual response verification.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techniques compare responses with trusted knowledge.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sensitive data protection agent identifies confidential enterprise information.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Sensitive information is masked or blocked before response delivery.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ensures secure and reliable AI-generated outputs.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0370"/>
            <a:ext cx="10515600" cy="1301115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Risk Scoring Engine, Audit Logging, Database, </a:t>
            </a:r>
            <a:b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Admin Dashboard &amp; Model Evaluation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14" y="191470"/>
            <a:ext cx="1530171" cy="1530171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654175" y="2254250"/>
            <a:ext cx="9578340" cy="4018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risk scoring engine assigns a security score to every AI interaction.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 records prompts, responses, and firewall decisions.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securely stores users, logs, and security reports.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admin dashboard provides real-time monitoring of enterprise AI security.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measures detection accuracy and system performance.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improves the effectiveness of enterprise AI protection.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1515" y="365125"/>
            <a:ext cx="6106160" cy="1325880"/>
          </a:xfrm>
        </p:spPr>
        <p:txBody>
          <a:bodyPr>
            <a:normAutofit/>
          </a:bodyPr>
          <a:p>
            <a:r>
              <a:rPr lang="en-US" alt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  <a:endParaRPr lang="en-US" altLang="en-I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4315" y="1769110"/>
            <a:ext cx="9095740" cy="4255770"/>
          </a:xfrm>
        </p:spPr>
        <p:txBody>
          <a:bodyPr>
            <a:noAutofit/>
          </a:bodyPr>
          <a:p>
            <a:pPr>
              <a:lnSpc>
                <a:spcPct val="140000"/>
              </a:lnSpc>
              <a:buFont typeface="Wingdings" panose="05000000000000000000" charset="0"/>
              <a:buChar char="§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securely authenticates users before allowing access to enterprise LLM applications.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buFont typeface="Wingdings" panose="05000000000000000000" charset="0"/>
              <a:buChar char="§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Prompt injection and jailbreak attacks are detected and blocked before reaching the language model.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buFont typeface="Wingdings" panose="05000000000000000000" charset="0"/>
              <a:buChar char="§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AI responses are identified and reduced using response verification techniques.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buFont typeface="Wingdings" panose="05000000000000000000" charset="0"/>
              <a:buChar char="§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Sensitive enterprise data is detected and protected from unauthorized disclosure.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buFont typeface="Wingdings" panose="05000000000000000000" charset="0"/>
              <a:buChar char="§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Risk scores and audit logs provide continuous monitoring of AI interactions.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buFont typeface="Wingdings" panose="05000000000000000000" charset="0"/>
              <a:buChar char="§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delivers secure, reliable, and trustworthy AI responses for enterprise environments.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434955" y="921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826" y="160517"/>
            <a:ext cx="1530171" cy="15301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5345" y="365125"/>
            <a:ext cx="5146040" cy="1325880"/>
          </a:xfrm>
        </p:spPr>
        <p:txBody>
          <a:bodyPr>
            <a:normAutofit/>
          </a:bodyPr>
          <a:p>
            <a:r>
              <a:rPr lang="en-US" alt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US" alt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434955" y="921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826" y="160517"/>
            <a:ext cx="1530171" cy="1530171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398270" y="1949450"/>
            <a:ext cx="10080625" cy="343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Obtaining a suitable and well-labeled helpdesk ticket dataset was one of the major challenges.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Cleaning unstructured textual data required careful preprocessing and feature extraction techniques.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most accurate machine learning algorithm involved extensive experimentation and evaluation.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class imbalance among different ticket priority levels affected prediction performance.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the trained model with the web application required proper deployment and testing.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5345" y="365125"/>
            <a:ext cx="5146040" cy="1325880"/>
          </a:xfrm>
        </p:spPr>
        <p:txBody>
          <a:bodyPr>
            <a:normAutofit fontScale="90000"/>
          </a:bodyPr>
          <a:p>
            <a:r>
              <a:rPr lang="en-US" alt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alt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434955" y="921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826" y="160517"/>
            <a:ext cx="1530171" cy="15301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90" y="1830070"/>
            <a:ext cx="10160000" cy="4679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5345" y="365125"/>
            <a:ext cx="5146040" cy="1325880"/>
          </a:xfrm>
        </p:spPr>
        <p:txBody>
          <a:bodyPr>
            <a:normAutofit fontScale="90000"/>
          </a:bodyPr>
          <a:p>
            <a:r>
              <a:rPr lang="en-US" alt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alt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434955" y="921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826" y="160517"/>
            <a:ext cx="1530171" cy="15301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030" y="1827530"/>
            <a:ext cx="10160000" cy="4616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5345" y="365125"/>
            <a:ext cx="5146040" cy="1325880"/>
          </a:xfrm>
        </p:spPr>
        <p:txBody>
          <a:bodyPr>
            <a:normAutofit fontScale="90000"/>
          </a:bodyPr>
          <a:p>
            <a:r>
              <a:rPr lang="en-US" alt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alt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434955" y="921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826" y="160517"/>
            <a:ext cx="1530171" cy="15301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845" y="1852295"/>
            <a:ext cx="101600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5345" y="365125"/>
            <a:ext cx="5146040" cy="1325880"/>
          </a:xfrm>
        </p:spPr>
        <p:txBody>
          <a:bodyPr>
            <a:normAutofit fontScale="90000"/>
          </a:bodyPr>
          <a:p>
            <a:r>
              <a:rPr lang="en-US" alt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alt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72655" y="143846"/>
            <a:ext cx="1331090" cy="162542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434955" y="921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826" y="160517"/>
            <a:ext cx="1530171" cy="1530171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016760" y="2181225"/>
            <a:ext cx="9504045" cy="3567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can be extended to support multimodal AI systems.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can improve future threat detection capabilities.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will support large-scale enterprise environments.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SIEM integration will strengthen organizational cybersecurity operations.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AI agents can automate advanced security decisions.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Wingdings" panose="05000000000000000000" charset="0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Zero-trust AI architecture can further enhance enterprise protection.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6530" y="2031365"/>
            <a:ext cx="9526905" cy="3903980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multi-agent intelligent firewall provides a secure framework for enterprise Large Language Model applications.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prompt injection attacks, reduces hallucinated responses, and protects sensitive enterprise data.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AI agents collaborate to improve the accuracy, reliability, and security of AI interactions.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 and risk scoring enhance monitoring, compliance, and threat analysis.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improves trust, safety, and scalability for enterprise Generative AI systems.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framework supports the secure adoption of Large Language Models in real-world enterprise environments.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826" y="160517"/>
            <a:ext cx="1530171" cy="15301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76" y="212902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117731" y="65267"/>
            <a:ext cx="1331090" cy="15301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098" y="65268"/>
            <a:ext cx="1530171" cy="1473198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171575" y="1745615"/>
            <a:ext cx="9956800" cy="490664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§"/>
            </a:pPr>
            <a:r>
              <a:rPr lang="en-US" altLang="en-US" b="0" i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[1] C. Zhang, M. Jin, Q. Yu, C. Liu, H. Xue, and X. Jin, “Goal-Guided Generative Prompt Injection Attack on Large Language Models,” in Proc. IEEE International Conference on Data Mining (ICDM), 2025.</a:t>
            </a:r>
            <a:endParaRPr lang="en-US" altLang="en-US" b="0" i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§"/>
            </a:pPr>
            <a:endParaRPr lang="en-US" altLang="en-US" b="0" i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§"/>
            </a:pPr>
            <a:r>
              <a:rPr lang="en-US" altLang="en-US" b="0" i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[2] C. Li, B. Xing, D. Huo, Q. Zhou, Z. Xu, and Y. Wang, “MixHD: A Method for Detecting Hallucinations Based on the Internal State and Output Probability of Large Language Models,” in Proc. IEEE International Conference on Acoustics, Speech and Signal Processing (ICASSP), 2025.</a:t>
            </a:r>
            <a:endParaRPr lang="en-US" altLang="en-US" b="0" i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§"/>
            </a:pPr>
            <a:endParaRPr lang="en-US" altLang="en-US" b="0" i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§"/>
            </a:pPr>
            <a:r>
              <a:rPr lang="en-US" altLang="en-US" b="0" i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[3] H. Xu, W. Zhang, Z. Wang, F. Xiao, R. Zheng, Z. Ba, and K. Ren, “RedAgent: An Autonomous Agent for Context-Aware Red Teaming of LLM Jailbreaks,” IEEE Transactions on Dependable and Secure Computing, vol. 23, no. 3, pp. 6506–6521, 2026, doi: 10.1109/TDSC.2026.3665230.</a:t>
            </a:r>
            <a:endParaRPr lang="en-US" altLang="en-US" b="0" i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§"/>
            </a:pPr>
            <a:endParaRPr lang="en-US" altLang="en-US" b="0" i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§"/>
            </a:pPr>
            <a:r>
              <a:rPr lang="en-US" altLang="en-US" b="0" i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[4] F. Xu, H. Hu, C. He, S. Hang, H. Hu, X. Liu, Y. Zhao, Z. Zhou, B. B. Zhu, S.-F. Sun, D. Gu, and S. Wang, “SoK: Robustness in Large Language Models against Jailbreak Attacks,” in Proc. IEEE Symposium on Security and Privacy, 2026, pp. 118–137, doi: 10.1109/SP63933.2026.00107.</a:t>
            </a:r>
            <a:endParaRPr lang="en-US" altLang="en-US" b="0" i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059" y="260528"/>
            <a:ext cx="1530171" cy="15301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9361</Words>
  <Application>WPS Presentation</Application>
  <PresentationFormat>Widescreen</PresentationFormat>
  <Paragraphs>204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SimSun</vt:lpstr>
      <vt:lpstr>Wingdings</vt:lpstr>
      <vt:lpstr>Times New Roman</vt:lpstr>
      <vt:lpstr>Times New Roman</vt:lpstr>
      <vt:lpstr>Wingdings</vt:lpstr>
      <vt:lpstr>ui-sans-serif</vt:lpstr>
      <vt:lpstr>Segoe Print</vt:lpstr>
      <vt:lpstr>Microsoft YaHei</vt:lpstr>
      <vt:lpstr>Arial Unicode MS</vt:lpstr>
      <vt:lpstr>Aptos Display</vt:lpstr>
      <vt:lpstr>Segoe UI Variable Display</vt:lpstr>
      <vt:lpstr>Aptos</vt:lpstr>
      <vt:lpstr>Segoe UI</vt:lpstr>
      <vt:lpstr>Office Theme</vt:lpstr>
      <vt:lpstr>SIMATS ENGINEERING Saveetha Institute of Medical and Technical  Sciences Chennai-602105    CSA6502 -GENERATIVE AI AND LARGE SCALE MODELS</vt:lpstr>
      <vt:lpstr>  INTRODUCTION</vt:lpstr>
      <vt:lpstr>Problem Statement</vt:lpstr>
      <vt:lpstr>              LITERATURE SURVEY</vt:lpstr>
      <vt:lpstr>Objectives</vt:lpstr>
      <vt:lpstr>EXISTING SOLUTION</vt:lpstr>
      <vt:lpstr>PROPOSED SOLUTION</vt:lpstr>
      <vt:lpstr>Architecture Diagram</vt:lpstr>
      <vt:lpstr>MODULE 1  User Interface, Authentication &amp; Access Control, LLM Gateway</vt:lpstr>
      <vt:lpstr> MODULE 2 Multi-Agent Firewall &amp; Prompt Injection Detection Agent</vt:lpstr>
      <vt:lpstr>MODULE 3  Hallucination Detection Agent &amp;  Sensitive Data Protection Agent</vt:lpstr>
      <vt:lpstr>MODULE 4  Risk Scoring Engine, Audit Logging, Database,  Admin Dashboard &amp; Model Evaluation</vt:lpstr>
      <vt:lpstr>EXPECTED OUTPUT</vt:lpstr>
      <vt:lpstr>Challenges Faced</vt:lpstr>
      <vt:lpstr>IMPLEMENTATION</vt:lpstr>
      <vt:lpstr>IMPLEMENTATION</vt:lpstr>
      <vt:lpstr>IMPLEMENTATION</vt:lpstr>
      <vt:lpstr>Future Enhancements</vt:lpstr>
      <vt:lpstr>Conclusion</vt:lpstr>
      <vt:lpstr>                        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Saveetha Institute of Medical and Technical Sciences Chennai-602105   ECA1039-Microprocessors and Microcontrollers for Automotive Industry</dc:title>
  <dc:creator>Navaprakash</dc:creator>
  <cp:lastModifiedBy>masta</cp:lastModifiedBy>
  <cp:revision>34</cp:revision>
  <dcterms:created xsi:type="dcterms:W3CDTF">2025-12-08T04:26:00Z</dcterms:created>
  <dcterms:modified xsi:type="dcterms:W3CDTF">2026-08-31T05:33:01Z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46C5FF87C5A84E589FB3DDD2A5C6E18B_13</vt:lpwstr>
  </property>
</Properties>
</file>